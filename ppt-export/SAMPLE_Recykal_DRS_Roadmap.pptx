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2424" y="-548640"/>
            <a:ext cx="1353312" cy="6217920"/>
          </a:xfrm>
          <a:prstGeom prst="roundRect">
            <a:avLst>
              <a:gd name="adj" fmla="val 50000"/>
            </a:avLst>
          </a:prstGeom>
          <a:ln w="63500">
            <a:solidFill>
              <a:srgbClr val="005D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078992"/>
            <a:ext cx="3877056" cy="290779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57200"/>
            <a:ext cx="1380744" cy="5120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1920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DRS Roadmap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11887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C797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Ireland — Deposit Return Scheme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0" y="457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www.recykal.com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1DC797"/>
          </a:solidFill>
          <a:ln/>
        </p:spPr>
      </p:sp>
      <p:sp>
        <p:nvSpPr>
          <p:cNvPr id="9" name="Text 5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984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0" y="-9144"/>
            <a:ext cx="1335024" cy="3163824"/>
          </a:xfrm>
          <a:prstGeom prst="roundRect">
            <a:avLst>
              <a:gd name="adj" fmla="val 50000"/>
            </a:avLst>
          </a:prstGeom>
          <a:ln w="63500">
            <a:solidFill>
              <a:srgbClr val="005D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55664" y="1892808"/>
            <a:ext cx="1335024" cy="3163824"/>
          </a:xfrm>
          <a:prstGeom prst="roundRect">
            <a:avLst>
              <a:gd name="adj" fmla="val 50000"/>
            </a:avLst>
          </a:prstGeom>
          <a:ln w="63500">
            <a:solidFill>
              <a:srgbClr val="048C6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490472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DRS Rollout: Ireland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68680" y="264261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Deployment roadmap &amp; KPI projections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8" name="Shape 5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005DFF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984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0" y="-9144"/>
            <a:ext cx="1335024" cy="3163824"/>
          </a:xfrm>
          <a:prstGeom prst="roundRect">
            <a:avLst>
              <a:gd name="adj" fmla="val 50000"/>
            </a:avLst>
          </a:prstGeom>
          <a:ln w="63500">
            <a:solidFill>
              <a:srgbClr val="005D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55664" y="1892808"/>
            <a:ext cx="1335024" cy="3163824"/>
          </a:xfrm>
          <a:prstGeom prst="roundRect">
            <a:avLst>
              <a:gd name="adj" fmla="val 50000"/>
            </a:avLst>
          </a:prstGeom>
          <a:ln w="63500">
            <a:solidFill>
              <a:srgbClr val="1DC79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 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22960" y="2642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Market Assessment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8" name="Shape 5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Assessment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76072" y="2496312"/>
            <a:ext cx="4882896" cy="2194560"/>
          </a:xfrm>
          <a:prstGeom prst="parallelogram">
            <a:avLst/>
          </a:prstGeom>
          <a:solidFill>
            <a:srgbClr val="EFEFE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1417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Ireland generates 190,000 MT of PET &amp; aluminium beverage packaging annually across 5.1M consumers.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2697480"/>
            <a:ext cx="3986784" cy="18836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DRS legislation in force since Feb 2024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collection rate: 90% by 2029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return rate: 78% via 2,900 RVMs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Recykal digital DRS reduces capex by 40%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493776"/>
            <a:ext cx="2980944" cy="2002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2798064"/>
            <a:ext cx="301752" cy="30175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27980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5040" y="27614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190,000 MT annual volume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3264408"/>
            <a:ext cx="301752" cy="30175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32644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35040" y="3227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5.1M consumers covered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3730752"/>
            <a:ext cx="301752" cy="30175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37307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35040" y="36941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2,900 collection points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0" y="4197096"/>
            <a:ext cx="301752" cy="301752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419709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90% target by 2029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Projected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9536" y="2066544"/>
            <a:ext cx="457200" cy="475488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2066544"/>
            <a:ext cx="457200" cy="475488"/>
          </a:xfrm>
          <a:prstGeom prst="ellipse">
            <a:avLst/>
          </a:prstGeom>
          <a:ln w="19050">
            <a:solidFill>
              <a:srgbClr val="005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110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450 Mn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containers recovered per year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43400" y="2066544"/>
            <a:ext cx="457200" cy="475488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2066544"/>
            <a:ext cx="457200" cy="475488"/>
          </a:xfrm>
          <a:prstGeom prst="ellipse">
            <a:avLst/>
          </a:prstGeom>
          <a:ln w="19050">
            <a:solidFill>
              <a:srgbClr val="1DC7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9110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92%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collection rate by year 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59536" y="3355848"/>
            <a:ext cx="457200" cy="475488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" y="3355848"/>
            <a:ext cx="457200" cy="475488"/>
          </a:xfrm>
          <a:prstGeom prst="ellipse">
            <a:avLst/>
          </a:prstGeom>
          <a:ln w="19050">
            <a:solidFill>
              <a:srgbClr val="1DC7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€38 Mn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deposit float managed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43400" y="3355848"/>
            <a:ext cx="457200" cy="475488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9392" y="3355848"/>
            <a:ext cx="457200" cy="475488"/>
          </a:xfrm>
          <a:prstGeom prst="ellipse">
            <a:avLst/>
          </a:prstGeom>
          <a:ln w="19050">
            <a:solidFill>
              <a:srgbClr val="005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12,400 MT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CO2 equivalent mitigated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Rollout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Timeline &amp; KPIs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Phase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Timeline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Collection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Points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Volume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(MT)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Coverage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Pilot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Dublin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Q1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2027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2,400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Phase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Leinster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Q3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2027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640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11,000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31%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Phase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Munster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Q1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2028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1,180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24,500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58%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Phase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National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Q4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2028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2,050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52,000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87%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Steady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state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2029+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2,400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71,000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94%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Process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Assess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0976" y="2368296"/>
            <a:ext cx="676656" cy="676656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3682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Market sizing, regulatory mapping, stakeholder alignment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55064" y="2560320"/>
            <a:ext cx="145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. . 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37104" y="181051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Pilot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39440" y="2368296"/>
            <a:ext cx="676656" cy="676656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2" name="Text 10"/>
          <p:cNvSpPr/>
          <p:nvPr/>
        </p:nvSpPr>
        <p:spPr>
          <a:xfrm>
            <a:off x="3139440" y="23682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37104" y="31546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Deploy smart centers in priority urban zones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3528" y="2560320"/>
            <a:ext cx="145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. . 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25568" y="181051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Scale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27904" y="2368296"/>
            <a:ext cx="676656" cy="676656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7" name="Text 15"/>
          <p:cNvSpPr/>
          <p:nvPr/>
        </p:nvSpPr>
        <p:spPr>
          <a:xfrm>
            <a:off x="5327904" y="23682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25568" y="31546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Regional rollout with RVM + digital redemption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1992" y="2560320"/>
            <a:ext cx="145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. . 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14032" y="181051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Optimize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16368" y="2368296"/>
            <a:ext cx="676656" cy="676656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22" name="Text 20"/>
          <p:cNvSpPr/>
          <p:nvPr/>
        </p:nvSpPr>
        <p:spPr>
          <a:xfrm>
            <a:off x="7516368" y="23682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14032" y="31546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AI-driven route and fill-level optimization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Operating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73352"/>
            <a:ext cx="402336" cy="411480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1673352"/>
            <a:ext cx="402336" cy="411480"/>
          </a:xfrm>
          <a:prstGeom prst="ellipse">
            <a:avLst/>
          </a:prstGeom>
          <a:ln w="19050">
            <a:solidFill>
              <a:srgbClr val="1DC7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73352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0704" y="1755648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Registration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Producers register SKUs on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44168" y="4105656"/>
            <a:ext cx="402336" cy="411480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0" name="Shape 8"/>
          <p:cNvSpPr/>
          <p:nvPr/>
        </p:nvSpPr>
        <p:spPr>
          <a:xfrm>
            <a:off x="1289304" y="4105656"/>
            <a:ext cx="402336" cy="411480"/>
          </a:xfrm>
          <a:prstGeom prst="ellipse">
            <a:avLst/>
          </a:prstGeom>
          <a:ln w="19050">
            <a:solidFill>
              <a:srgbClr val="6E5C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9304" y="4105656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01368" y="3392424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Deposit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pays deposit at purchase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71216" y="1673352"/>
            <a:ext cx="402336" cy="411480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4" name="Shape 12"/>
          <p:cNvSpPr/>
          <p:nvPr/>
        </p:nvSpPr>
        <p:spPr>
          <a:xfrm>
            <a:off x="2816352" y="1673352"/>
            <a:ext cx="402336" cy="411480"/>
          </a:xfrm>
          <a:prstGeom prst="ellipse">
            <a:avLst/>
          </a:prstGeom>
          <a:ln w="19050">
            <a:solidFill>
              <a:srgbClr val="1DC7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673352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64992" y="1755648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Return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Container returned at any collection point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59936" y="4105656"/>
            <a:ext cx="402336" cy="411480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5072" y="4105656"/>
            <a:ext cx="402336" cy="411480"/>
          </a:xfrm>
          <a:prstGeom prst="ellipse">
            <a:avLst/>
          </a:prstGeom>
          <a:ln w="19050">
            <a:solidFill>
              <a:srgbClr val="6E5C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4105656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17136" y="3392424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Refund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digital refund via UPI/wallet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22976" y="1673352"/>
            <a:ext cx="402336" cy="411480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68112" y="1673352"/>
            <a:ext cx="402336" cy="411480"/>
          </a:xfrm>
          <a:prstGeom prst="ellipse">
            <a:avLst/>
          </a:prstGeom>
          <a:ln w="19050">
            <a:solidFill>
              <a:srgbClr val="1DC7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673352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16752" y="1755648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Logistics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Optimized reverse logistics to recyclers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55664" y="4105656"/>
            <a:ext cx="402336" cy="411480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105656"/>
            <a:ext cx="402336" cy="411480"/>
          </a:xfrm>
          <a:prstGeom prst="ellipse">
            <a:avLst/>
          </a:prstGeom>
          <a:ln w="19050">
            <a:solidFill>
              <a:srgbClr val="567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105656"/>
            <a:ext cx="402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12864" y="3392424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Reporting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compliance dashboards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" y="310896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DC7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26464" y="310896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67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0088" y="310896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DC79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51376" y="310896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E5C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41848" y="310896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DC79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28816" y="3108960"/>
            <a:ext cx="100584" cy="1005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567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Benefits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of Digital DRS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58952" y="1371600"/>
            <a:ext cx="3758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digitally enabled deposit return system delivers higher recovery at lower cost than RVM-only infrastructure.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496312"/>
            <a:ext cx="4169664" cy="21854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38928" y="1353312"/>
            <a:ext cx="576072" cy="576072"/>
          </a:xfrm>
          <a:prstGeom prst="ellipse">
            <a:avLst/>
          </a:prstGeom>
          <a:solidFill>
            <a:srgbClr val="EFEFEF"/>
          </a:solidFill>
          <a:ln w="10160">
            <a:solidFill>
              <a:srgbClr val="4343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38928" y="135331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815584" y="13075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40% lower capex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Digital redemption removes RVM dependency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38928" y="2267712"/>
            <a:ext cx="576072" cy="576072"/>
          </a:xfrm>
          <a:prstGeom prst="ellipse">
            <a:avLst/>
          </a:prstGeom>
          <a:solidFill>
            <a:srgbClr val="EFEFEF"/>
          </a:solidFill>
          <a:ln w="10160">
            <a:solidFill>
              <a:srgbClr val="4343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38928" y="226771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815584" y="22219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Full traceability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Every container tracked bottle-to-bale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38928" y="3182112"/>
            <a:ext cx="576072" cy="576072"/>
          </a:xfrm>
          <a:prstGeom prst="ellipse">
            <a:avLst/>
          </a:prstGeom>
          <a:solidFill>
            <a:srgbClr val="EFEFEF"/>
          </a:solidFill>
          <a:ln w="10160">
            <a:solidFill>
              <a:srgbClr val="4343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38928" y="318211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815584" y="31363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Fraud prevention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 validation blocks duplicate redemptions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138928" y="4096512"/>
            <a:ext cx="576072" cy="576072"/>
          </a:xfrm>
          <a:prstGeom prst="ellipse">
            <a:avLst/>
          </a:prstGeom>
          <a:solidFill>
            <a:srgbClr val="EFEFEF"/>
          </a:solidFill>
          <a:ln w="10160">
            <a:solidFill>
              <a:srgbClr val="4343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38928" y="409651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815584" y="40507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Faster rollout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Live in weeks, not years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Canvas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Anything can go here via the raw PptxGenJS API.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6592" y="0"/>
            <a:ext cx="4407408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44568" y="-548640"/>
            <a:ext cx="1335024" cy="6217920"/>
          </a:xfrm>
          <a:prstGeom prst="roundRect">
            <a:avLst>
              <a:gd name="adj" fmla="val 50000"/>
            </a:avLst>
          </a:prstGeom>
          <a:ln w="63500">
            <a:solidFill>
              <a:srgbClr val="005D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1746504"/>
            <a:ext cx="2057400" cy="758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29968" y="2724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5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www.recykal.com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029968" y="29992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Reach out to us on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5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marketing@recykal.com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 call at </a:t>
            </a:r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+91 7799996255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0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9" name="Shape 6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2026-07-07T05:58:28Z</dcterms:created>
  <dcterms:modified xsi:type="dcterms:W3CDTF">2026-07-07T05:58:28Z</dcterms:modified>
</cp:coreProperties>
</file>